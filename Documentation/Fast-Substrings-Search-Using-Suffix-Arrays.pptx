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DM Sans"/>
      <p:regular r:id="rId201314"/>
    </p:embeddedFont>
    <p:embeddedFont>
      <p:font typeface="DM Sans Bold"/>
      <p:regular r:id="rId201315"/>
    </p:embeddedFont>
    <p:embeddedFont>
      <p:font typeface="Libre Baskerville"/>
      <p:regular r:id="rId201316"/>
    </p:embeddedFont>
    <p:embeddedFont>
      <p:font typeface="Libre Baskerville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DFA"/>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612106"/>
            <a:ext cx="10868745" cy="590649"/>
          </a:xfrm>
          <a:prstGeom prst="rect">
            <a:avLst/>
          </a:prstGeom>
          <a:noFill/>
          <a:ln/>
        </p:spPr>
        <p:txBody>
          <a:bodyPr wrap="none" lIns="0" tIns="0" rIns="0" bIns="0" rtlCol="0" anchor="t"/>
          <a:lstStyle/>
          <a:p>
            <a:pPr algn="ctr" indent="0" marL="0">
              <a:lnSpc>
                <a:spcPct val="104000"/>
              </a:lnSpc>
              <a:buNone/>
            </a:pPr>
            <a:r>
              <a:rPr lang="en-US" sz="3700" dirty="0">
                <a:solidFill>
                  <a:srgbClr val="5C4E3D"/>
                </a:solidFill>
                <a:latin typeface="Libre Baskerville" pitchFamily="34" charset="0"/>
                <a:ea typeface="Libre Baskerville" pitchFamily="34" charset="-122"/>
                <a:cs typeface="Libre Baskerville" pitchFamily="34" charset="-120"/>
              </a:rPr>
              <a:t>Fast Substrings Search Using Suffix Arrays</a:t>
            </a:r>
            <a:endParaRPr lang="en-US" sz="3700" dirty="0"/>
          </a:p>
        </p:txBody>
      </p:sp>
      <p:sp>
        <p:nvSpPr>
          <p:cNvPr id="3" name="Text 1"/>
          <p:cNvSpPr/>
          <p:nvPr/>
        </p:nvSpPr>
        <p:spPr>
          <a:xfrm>
            <a:off x="661475" y="2580779"/>
            <a:ext cx="10868745" cy="2665016"/>
          </a:xfrm>
          <a:prstGeom prst="rect">
            <a:avLst/>
          </a:prstGeom>
          <a:noFill/>
          <a:ln/>
        </p:spPr>
        <p:txBody>
          <a:bodyPr wrap="square" lIns="0" tIns="0" rIns="0" bIns="0" rtlCol="0" anchor="t"/>
          <a:lstStyle/>
          <a:p>
            <a:pPr algn="ctr" indent="0" marL="0">
              <a:lnSpc>
                <a:spcPct val="133000"/>
              </a:lnSpc>
              <a:spcAft>
                <a:spcPts val="1650"/>
              </a:spcAft>
              <a:buNone/>
            </a:pPr>
            <a:r>
              <a:rPr lang="en-US" sz="1450" dirty="0">
                <a:solidFill>
                  <a:srgbClr val="454240"/>
                </a:solidFill>
                <a:latin typeface="DM Sans" pitchFamily="34" charset="0"/>
                <a:ea typeface="DM Sans" pitchFamily="34" charset="-122"/>
                <a:cs typeface="DM Sans" pitchFamily="34" charset="-120"/>
              </a:rPr>
              <a:t>Data Structures and Algorithms – 3 (25CS2103E)</a:t>
            </a:r>
            <a:endParaRPr lang="en-US" sz="1450" dirty="0"/>
          </a:p>
          <a:p>
            <a:pPr algn="ctr" indent="0" marL="0">
              <a:lnSpc>
                <a:spcPct val="133000"/>
              </a:lnSpc>
              <a:spcAft>
                <a:spcPts val="1650"/>
              </a:spcAft>
              <a:buNone/>
            </a:pPr>
            <a:r>
              <a:rPr lang="en-US" sz="1450" dirty="0">
                <a:solidFill>
                  <a:srgbClr val="454240"/>
                </a:solidFill>
                <a:latin typeface="DM Sans" pitchFamily="34" charset="0"/>
                <a:ea typeface="DM Sans" pitchFamily="34" charset="-122"/>
                <a:cs typeface="DM Sans" pitchFamily="34" charset="-120"/>
              </a:rPr>
              <a:t>Problem Statement 13 | Team No. 27</a:t>
            </a:r>
            <a:endParaRPr lang="en-US" sz="1450" dirty="0"/>
          </a:p>
          <a:p>
            <a:pPr algn="ctr" indent="0" marL="0">
              <a:lnSpc>
                <a:spcPct val="133000"/>
              </a:lnSpc>
              <a:spcAft>
                <a:spcPts val="1650"/>
              </a:spcAft>
              <a:buNone/>
            </a:pPr>
            <a:r>
              <a:rPr lang="en-US" sz="1450" dirty="0">
                <a:solidFill>
                  <a:srgbClr val="454240"/>
                </a:solidFill>
                <a:latin typeface="DM Sans" pitchFamily="34" charset="0"/>
                <a:ea typeface="DM Sans" pitchFamily="34" charset="-122"/>
                <a:cs typeface="DM Sans" pitchFamily="34" charset="-120"/>
              </a:rPr>
              <a:t>Team Members</a:t>
            </a:r>
            <a:endParaRPr lang="en-US" sz="1450" dirty="0"/>
          </a:p>
          <a:p>
            <a:pPr algn="ctr" indent="0" marL="0">
              <a:lnSpc>
                <a:spcPct val="133000"/>
              </a:lnSpc>
              <a:buNone/>
            </a:pPr>
            <a:r>
              <a:rPr lang="en-US" sz="1450" dirty="0">
                <a:solidFill>
                  <a:srgbClr val="454240"/>
                </a:solidFill>
                <a:latin typeface="DM Sans" pitchFamily="34" charset="0"/>
                <a:ea typeface="DM Sans" pitchFamily="34" charset="-122"/>
                <a:cs typeface="DM Sans" pitchFamily="34" charset="-120"/>
              </a:rPr>
              <a:t>2520030426 – G Jashwanth Reddy</a:t>
            </a:r>
            <a:endParaRPr lang="en-US" sz="1450" dirty="0"/>
          </a:p>
          <a:p>
            <a:pPr algn="ctr" indent="0" marL="0">
              <a:lnSpc>
                <a:spcPct val="133000"/>
              </a:lnSpc>
              <a:spcAft>
                <a:spcPts val="1650"/>
              </a:spcAft>
              <a:buNone/>
            </a:pPr>
            <a:r>
              <a:rPr lang="en-US" sz="1450" dirty="0">
                <a:solidFill>
                  <a:srgbClr val="454240"/>
                </a:solidFill>
                <a:latin typeface="DM Sans" pitchFamily="34" charset="0"/>
                <a:ea typeface="DM Sans" pitchFamily="34" charset="-122"/>
                <a:cs typeface="DM Sans" pitchFamily="34" charset="-120"/>
              </a:rPr>
              <a:t>2520030382 – Mohammad Zaid Amaan</a:t>
            </a:r>
            <a:endParaRPr lang="en-US" sz="1450" dirty="0"/>
          </a:p>
          <a:p>
            <a:pPr algn="ctr" indent="0" marL="0">
              <a:lnSpc>
                <a:spcPct val="133000"/>
              </a:lnSpc>
              <a:buNone/>
            </a:pPr>
            <a:r>
              <a:rPr lang="en-US" sz="1450" dirty="0">
                <a:solidFill>
                  <a:srgbClr val="454240"/>
                </a:solidFill>
                <a:latin typeface="DM Sans" pitchFamily="34" charset="0"/>
                <a:ea typeface="DM Sans" pitchFamily="34" charset="-122"/>
                <a:cs typeface="DM Sans" pitchFamily="34" charset="-120"/>
              </a:rPr>
              <a:t>A.Y. 2026–2027</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2037358"/>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5C4E3D"/>
                </a:solidFill>
                <a:latin typeface="Libre Baskerville" pitchFamily="34" charset="0"/>
                <a:ea typeface="Libre Baskerville" pitchFamily="34" charset="-122"/>
                <a:cs typeface="Libre Baskerville" pitchFamily="34" charset="-120"/>
              </a:rPr>
              <a:t>Abstract</a:t>
            </a:r>
            <a:endParaRPr lang="en-US" sz="3700" dirty="0"/>
          </a:p>
        </p:txBody>
      </p:sp>
      <p:sp>
        <p:nvSpPr>
          <p:cNvPr id="3" name="Text 1"/>
          <p:cNvSpPr/>
          <p:nvPr/>
        </p:nvSpPr>
        <p:spPr>
          <a:xfrm>
            <a:off x="661475" y="3006030"/>
            <a:ext cx="10868745"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454240"/>
                </a:solidFill>
                <a:latin typeface="DM Sans" pitchFamily="34" charset="0"/>
                <a:ea typeface="DM Sans" pitchFamily="34" charset="-122"/>
                <a:cs typeface="DM Sans" pitchFamily="34" charset="-120"/>
              </a:rPr>
              <a:t>This project presents a high-speed substring lookup system using Suffix Arrays for efficient text searching. The system preprocesses the input text by constructing and sorting its suffixes into a suffix array, enabling multiple substring queries to be answered without repeatedly scanning the entire text. For each query, binary search is used to quickly identify matching occurrences and return their positions in the original text. The system also records query execution time to evaluate search performance. It is designed to handle large text files and Unicode characters, demonstrating how efficient preprocessing and advanced data structures can improve repeated substring searching compared with conventional approaches.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329333"/>
            <a:ext cx="1762676" cy="287139"/>
          </a:xfrm>
          <a:prstGeom prst="roundRect">
            <a:avLst>
              <a:gd name="adj" fmla="val 22118"/>
            </a:avLst>
          </a:prstGeom>
          <a:noFill/>
          <a:ln w="6350">
            <a:solidFill>
              <a:srgbClr val="B88E23"/>
            </a:solidFill>
            <a:prstDash val="solid"/>
          </a:ln>
        </p:spPr>
      </p:sp>
      <p:sp>
        <p:nvSpPr>
          <p:cNvPr id="3" name="Text 1"/>
          <p:cNvSpPr/>
          <p:nvPr/>
        </p:nvSpPr>
        <p:spPr>
          <a:xfrm>
            <a:off x="774879" y="1385987"/>
            <a:ext cx="2145453" cy="173831"/>
          </a:xfrm>
          <a:prstGeom prst="rect">
            <a:avLst/>
          </a:prstGeom>
          <a:noFill/>
          <a:ln/>
        </p:spPr>
        <p:txBody>
          <a:bodyPr wrap="none" lIns="0" tIns="0" rIns="0" bIns="0" rtlCol="0" anchor="t"/>
          <a:lstStyle/>
          <a:p>
            <a:pPr algn="l" indent="0" marL="0">
              <a:lnSpc>
                <a:spcPct val="96000"/>
              </a:lnSpc>
              <a:buNone/>
            </a:pPr>
            <a:r>
              <a:rPr lang="en-US" sz="1150" dirty="0">
                <a:solidFill>
                  <a:srgbClr val="B88E23"/>
                </a:solidFill>
                <a:latin typeface="DM Sans" pitchFamily="34" charset="0"/>
                <a:ea typeface="DM Sans" pitchFamily="34" charset="-122"/>
                <a:cs typeface="DM Sans" pitchFamily="34" charset="-120"/>
              </a:rPr>
              <a:t>PROBLEM STATEMENT</a:t>
            </a:r>
            <a:endParaRPr lang="en-US" sz="1150" dirty="0"/>
          </a:p>
        </p:txBody>
      </p:sp>
      <p:sp>
        <p:nvSpPr>
          <p:cNvPr id="4" name="Text 2"/>
          <p:cNvSpPr/>
          <p:nvPr/>
        </p:nvSpPr>
        <p:spPr>
          <a:xfrm>
            <a:off x="661475" y="1692077"/>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5C4E3D"/>
                </a:solidFill>
                <a:latin typeface="Libre Baskerville" pitchFamily="34" charset="0"/>
                <a:ea typeface="Libre Baskerville" pitchFamily="34" charset="-122"/>
                <a:cs typeface="Libre Baskerville" pitchFamily="34" charset="-120"/>
              </a:rPr>
              <a:t>The Core Challenge</a:t>
            </a:r>
            <a:endParaRPr lang="en-US" sz="3700" dirty="0"/>
          </a:p>
        </p:txBody>
      </p:sp>
      <p:sp>
        <p:nvSpPr>
          <p:cNvPr id="5" name="Text 3"/>
          <p:cNvSpPr/>
          <p:nvPr/>
        </p:nvSpPr>
        <p:spPr>
          <a:xfrm>
            <a:off x="661475" y="2566194"/>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454240"/>
                </a:solidFill>
                <a:latin typeface="DM Sans" pitchFamily="34" charset="0"/>
                <a:ea typeface="DM Sans" pitchFamily="34" charset="-122"/>
                <a:cs typeface="DM Sans" pitchFamily="34" charset="-120"/>
              </a:rPr>
              <a:t>Repeatedly searching for substrings in a large text can become inefficient when every query requires scanning the full text again. As the text grows and the number of queries increases, a more efficient approach is needed.</a:t>
            </a:r>
            <a:endParaRPr lang="en-US" sz="1450" dirty="0"/>
          </a:p>
        </p:txBody>
      </p:sp>
      <p:sp>
        <p:nvSpPr>
          <p:cNvPr id="6" name="Text 4"/>
          <p:cNvSpPr/>
          <p:nvPr/>
        </p:nvSpPr>
        <p:spPr>
          <a:xfrm>
            <a:off x="661475" y="3383657"/>
            <a:ext cx="10868745" cy="2144911"/>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Preprocess the input text using a suffix array</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Support multiple substring queries</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Avoid repeatedly scanning the complete text</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Return occurrence positions for matching substrings</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Measure query execution time</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Support large text files and Unicode characters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603052"/>
            <a:ext cx="2282966" cy="287139"/>
          </a:xfrm>
          <a:prstGeom prst="roundRect">
            <a:avLst>
              <a:gd name="adj" fmla="val 22118"/>
            </a:avLst>
          </a:prstGeom>
          <a:noFill/>
          <a:ln w="6350">
            <a:solidFill>
              <a:srgbClr val="B88E23"/>
            </a:solidFill>
            <a:prstDash val="solid"/>
          </a:ln>
        </p:spPr>
      </p:sp>
      <p:sp>
        <p:nvSpPr>
          <p:cNvPr id="3" name="Text 1"/>
          <p:cNvSpPr/>
          <p:nvPr/>
        </p:nvSpPr>
        <p:spPr>
          <a:xfrm>
            <a:off x="774879" y="659705"/>
            <a:ext cx="2665743" cy="173831"/>
          </a:xfrm>
          <a:prstGeom prst="rect">
            <a:avLst/>
          </a:prstGeom>
          <a:noFill/>
          <a:ln/>
        </p:spPr>
        <p:txBody>
          <a:bodyPr wrap="none" lIns="0" tIns="0" rIns="0" bIns="0" rtlCol="0" anchor="t"/>
          <a:lstStyle/>
          <a:p>
            <a:pPr algn="l" indent="0" marL="0">
              <a:lnSpc>
                <a:spcPct val="96000"/>
              </a:lnSpc>
              <a:buNone/>
            </a:pPr>
            <a:r>
              <a:rPr lang="en-US" sz="1150" dirty="0">
                <a:solidFill>
                  <a:srgbClr val="B88E23"/>
                </a:solidFill>
                <a:latin typeface="DM Sans" pitchFamily="34" charset="0"/>
                <a:ea typeface="DM Sans" pitchFamily="34" charset="-122"/>
                <a:cs typeface="DM Sans" pitchFamily="34" charset="-120"/>
              </a:rPr>
              <a:t>PROPOSED FUNCTIONALITIES</a:t>
            </a:r>
            <a:endParaRPr lang="en-US" sz="1150" dirty="0"/>
          </a:p>
        </p:txBody>
      </p:sp>
      <p:sp>
        <p:nvSpPr>
          <p:cNvPr id="4" name="Text 2"/>
          <p:cNvSpPr/>
          <p:nvPr/>
        </p:nvSpPr>
        <p:spPr>
          <a:xfrm>
            <a:off x="661475" y="965795"/>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5C4E3D"/>
                </a:solidFill>
                <a:latin typeface="Libre Baskerville" pitchFamily="34" charset="0"/>
                <a:ea typeface="Libre Baskerville" pitchFamily="34" charset="-122"/>
                <a:cs typeface="Libre Baskerville" pitchFamily="34" charset="-120"/>
              </a:rPr>
              <a:t>Proposed Functionalities</a:t>
            </a:r>
            <a:endParaRPr lang="en-US" sz="3700" dirty="0"/>
          </a:p>
        </p:txBody>
      </p:sp>
      <p:sp>
        <p:nvSpPr>
          <p:cNvPr id="5" name="Text 3"/>
          <p:cNvSpPr/>
          <p:nvPr/>
        </p:nvSpPr>
        <p:spPr>
          <a:xfrm>
            <a:off x="661475" y="1839913"/>
            <a:ext cx="10868745" cy="2144911"/>
          </a:xfrm>
          <a:prstGeom prst="rect">
            <a:avLst/>
          </a:prstGeom>
          <a:noFill/>
          <a:ln/>
        </p:spPr>
        <p:txBody>
          <a:bodyPr wrap="square" lIns="0" tIns="0" rIns="0" bIns="0" rtlCol="0" anchor="t">
            <a:normAutofit/>
          </a:bodyPr>
          <a:lstStyle/>
          <a:p>
            <a:pPr algn="l" marL="294640" indent="-294640">
              <a:lnSpc>
                <a:spcPct val="133000"/>
              </a:lnSpc>
              <a:buSzPct val="100000"/>
              <a:buFont typeface="+mj-lt"/>
              <a:buAutoNum type="arabicPeriod" startAt="1"/>
            </a:pPr>
            <a:r>
              <a:rPr lang="en-US" sz="1450" dirty="0">
                <a:solidFill>
                  <a:srgbClr val="454240"/>
                </a:solidFill>
                <a:latin typeface="DM Sans" pitchFamily="34" charset="0"/>
                <a:ea typeface="DM Sans" pitchFamily="34" charset="-122"/>
                <a:cs typeface="DM Sans" pitchFamily="34" charset="-120"/>
              </a:rPr>
              <a:t>Input Text</a:t>
            </a:r>
            <a:endParaRPr lang="en-US" sz="1450" dirty="0"/>
          </a:p>
          <a:p>
            <a:pPr algn="l" marL="294640" indent="-294640">
              <a:lnSpc>
                <a:spcPct val="133000"/>
              </a:lnSpc>
              <a:buSzPct val="100000"/>
              <a:buFont typeface="+mj-lt"/>
              <a:buAutoNum type="arabicPeriod" startAt="2"/>
            </a:pPr>
            <a:r>
              <a:rPr lang="en-US" sz="1450" dirty="0">
                <a:solidFill>
                  <a:srgbClr val="454240"/>
                </a:solidFill>
                <a:latin typeface="DM Sans" pitchFamily="34" charset="0"/>
                <a:ea typeface="DM Sans" pitchFamily="34" charset="-122"/>
                <a:cs typeface="DM Sans" pitchFamily="34" charset="-120"/>
              </a:rPr>
              <a:t>Build Suffix Array</a:t>
            </a:r>
            <a:endParaRPr lang="en-US" sz="1450" dirty="0"/>
          </a:p>
          <a:p>
            <a:pPr algn="l" marL="294640" indent="-294640">
              <a:lnSpc>
                <a:spcPct val="133000"/>
              </a:lnSpc>
              <a:buSzPct val="100000"/>
              <a:buFont typeface="+mj-lt"/>
              <a:buAutoNum type="arabicPeriod" startAt="3"/>
            </a:pPr>
            <a:r>
              <a:rPr lang="en-US" sz="1450" dirty="0">
                <a:solidFill>
                  <a:srgbClr val="454240"/>
                </a:solidFill>
                <a:latin typeface="DM Sans" pitchFamily="34" charset="0"/>
                <a:ea typeface="DM Sans" pitchFamily="34" charset="-122"/>
                <a:cs typeface="DM Sans" pitchFamily="34" charset="-120"/>
              </a:rPr>
              <a:t>Sort/Preprocess</a:t>
            </a:r>
            <a:endParaRPr lang="en-US" sz="1450" dirty="0"/>
          </a:p>
          <a:p>
            <a:pPr algn="l" marL="294640" indent="-294640">
              <a:lnSpc>
                <a:spcPct val="133000"/>
              </a:lnSpc>
              <a:buSzPct val="100000"/>
              <a:buFont typeface="+mj-lt"/>
              <a:buAutoNum type="arabicPeriod" startAt="4"/>
            </a:pPr>
            <a:r>
              <a:rPr lang="en-US" sz="1450" dirty="0">
                <a:solidFill>
                  <a:srgbClr val="454240"/>
                </a:solidFill>
                <a:latin typeface="DM Sans" pitchFamily="34" charset="0"/>
                <a:ea typeface="DM Sans" pitchFamily="34" charset="-122"/>
                <a:cs typeface="DM Sans" pitchFamily="34" charset="-120"/>
              </a:rPr>
              <a:t>Enter Query</a:t>
            </a:r>
            <a:endParaRPr lang="en-US" sz="1450" dirty="0"/>
          </a:p>
          <a:p>
            <a:pPr algn="l" marL="294640" indent="-294640">
              <a:lnSpc>
                <a:spcPct val="133000"/>
              </a:lnSpc>
              <a:buSzPct val="100000"/>
              <a:buFont typeface="+mj-lt"/>
              <a:buAutoNum type="arabicPeriod" startAt="5"/>
            </a:pPr>
            <a:r>
              <a:rPr lang="en-US" sz="1450" dirty="0">
                <a:solidFill>
                  <a:srgbClr val="454240"/>
                </a:solidFill>
                <a:latin typeface="DM Sans" pitchFamily="34" charset="0"/>
                <a:ea typeface="DM Sans" pitchFamily="34" charset="-122"/>
                <a:cs typeface="DM Sans" pitchFamily="34" charset="-120"/>
              </a:rPr>
              <a:t>Binary Search</a:t>
            </a:r>
            <a:endParaRPr lang="en-US" sz="1450" dirty="0"/>
          </a:p>
          <a:p>
            <a:pPr algn="l" marL="294640" indent="-294640">
              <a:lnSpc>
                <a:spcPct val="133000"/>
              </a:lnSpc>
              <a:buSzPct val="100000"/>
              <a:buFont typeface="+mj-lt"/>
              <a:buAutoNum type="arabicPeriod" startAt="6"/>
            </a:pPr>
            <a:r>
              <a:rPr lang="en-US" sz="1450" dirty="0">
                <a:solidFill>
                  <a:srgbClr val="454240"/>
                </a:solidFill>
                <a:latin typeface="DM Sans" pitchFamily="34" charset="0"/>
                <a:ea typeface="DM Sans" pitchFamily="34" charset="-122"/>
                <a:cs typeface="DM Sans" pitchFamily="34" charset="-120"/>
              </a:rPr>
              <a:t>Show Results</a:t>
            </a:r>
            <a:endParaRPr lang="en-US" sz="1450" dirty="0"/>
          </a:p>
        </p:txBody>
      </p:sp>
      <p:sp>
        <p:nvSpPr>
          <p:cNvPr id="6" name="Text 4"/>
          <p:cNvSpPr/>
          <p:nvPr/>
        </p:nvSpPr>
        <p:spPr>
          <a:xfrm>
            <a:off x="661475" y="4268291"/>
            <a:ext cx="10868745" cy="295275"/>
          </a:xfrm>
          <a:prstGeom prst="rect">
            <a:avLst/>
          </a:prstGeom>
          <a:noFill/>
          <a:ln/>
        </p:spPr>
        <p:txBody>
          <a:bodyPr wrap="none" lIns="0" tIns="0" rIns="0" bIns="0" rtlCol="0" anchor="t"/>
          <a:lstStyle/>
          <a:p>
            <a:pPr algn="l" indent="0" marL="0">
              <a:lnSpc>
                <a:spcPct val="104000"/>
              </a:lnSpc>
              <a:buNone/>
            </a:pPr>
            <a:r>
              <a:rPr lang="en-US" sz="1850" dirty="0">
                <a:solidFill>
                  <a:srgbClr val="5C4E3D"/>
                </a:solidFill>
                <a:latin typeface="Libre Baskerville" pitchFamily="34" charset="0"/>
                <a:ea typeface="Libre Baskerville" pitchFamily="34" charset="-122"/>
                <a:cs typeface="Libre Baskerville" pitchFamily="34" charset="-120"/>
              </a:rPr>
              <a:t>System Features</a:t>
            </a:r>
            <a:endParaRPr lang="en-US" sz="1850" dirty="0"/>
          </a:p>
        </p:txBody>
      </p:sp>
      <p:sp>
        <p:nvSpPr>
          <p:cNvPr id="7" name="Text 5"/>
          <p:cNvSpPr/>
          <p:nvPr/>
        </p:nvSpPr>
        <p:spPr>
          <a:xfrm>
            <a:off x="661475" y="4847034"/>
            <a:ext cx="10868745"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Large text input support</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Suffix array construction and sorted indexing</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Binary-search-based substring lookup with occurrence positions</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Query execution-time recording and Unicode support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63761"/>
            <a:ext cx="1662468" cy="237827"/>
          </a:xfrm>
          <a:prstGeom prst="roundRect">
            <a:avLst>
              <a:gd name="adj" fmla="val 22115"/>
            </a:avLst>
          </a:prstGeom>
          <a:noFill/>
          <a:ln w="6350">
            <a:solidFill>
              <a:srgbClr val="B88E23"/>
            </a:solidFill>
            <a:prstDash val="solid"/>
          </a:ln>
        </p:spPr>
      </p:sp>
      <p:sp>
        <p:nvSpPr>
          <p:cNvPr id="3" name="Text 1"/>
          <p:cNvSpPr/>
          <p:nvPr/>
        </p:nvSpPr>
        <p:spPr>
          <a:xfrm>
            <a:off x="755333" y="610691"/>
            <a:ext cx="2084335" cy="143966"/>
          </a:xfrm>
          <a:prstGeom prst="rect">
            <a:avLst/>
          </a:prstGeom>
          <a:noFill/>
          <a:ln/>
        </p:spPr>
        <p:txBody>
          <a:bodyPr wrap="none" lIns="0" tIns="0" rIns="0" bIns="0" rtlCol="0" anchor="t"/>
          <a:lstStyle/>
          <a:p>
            <a:pPr algn="l" indent="0" marL="0">
              <a:lnSpc>
                <a:spcPct val="96000"/>
              </a:lnSpc>
              <a:buNone/>
            </a:pPr>
            <a:r>
              <a:rPr lang="en-US" sz="950" dirty="0">
                <a:solidFill>
                  <a:srgbClr val="B88E23"/>
                </a:solidFill>
                <a:latin typeface="DM Sans" pitchFamily="34" charset="0"/>
                <a:ea typeface="DM Sans" pitchFamily="34" charset="-122"/>
                <a:cs typeface="DM Sans" pitchFamily="34" charset="-120"/>
              </a:rPr>
              <a:t>TOOLS &amp; TECHNOLOGIES</a:t>
            </a:r>
            <a:endParaRPr lang="en-US" sz="950" dirty="0"/>
          </a:p>
        </p:txBody>
      </p:sp>
      <p:sp>
        <p:nvSpPr>
          <p:cNvPr id="4" name="Text 2"/>
          <p:cNvSpPr/>
          <p:nvPr/>
        </p:nvSpPr>
        <p:spPr>
          <a:xfrm>
            <a:off x="661475" y="853380"/>
            <a:ext cx="10868745" cy="489148"/>
          </a:xfrm>
          <a:prstGeom prst="rect">
            <a:avLst/>
          </a:prstGeom>
          <a:noFill/>
          <a:ln/>
        </p:spPr>
        <p:txBody>
          <a:bodyPr wrap="none" lIns="0" tIns="0" rIns="0" bIns="0" rtlCol="0" anchor="t"/>
          <a:lstStyle/>
          <a:p>
            <a:pPr algn="l" indent="0" marL="0">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Tools and Technologies</a:t>
            </a:r>
            <a:endParaRPr lang="en-US" sz="3050" dirty="0"/>
          </a:p>
        </p:txBody>
      </p:sp>
      <p:sp>
        <p:nvSpPr>
          <p:cNvPr id="5" name="Text 3"/>
          <p:cNvSpPr/>
          <p:nvPr/>
        </p:nvSpPr>
        <p:spPr>
          <a:xfrm>
            <a:off x="661475" y="1394321"/>
            <a:ext cx="10868745" cy="244574"/>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Programming Language</a:t>
            </a:r>
            <a:endParaRPr lang="en-US" sz="1500" dirty="0"/>
          </a:p>
        </p:txBody>
      </p:sp>
      <p:sp>
        <p:nvSpPr>
          <p:cNvPr id="6" name="Text 4"/>
          <p:cNvSpPr/>
          <p:nvPr/>
        </p:nvSpPr>
        <p:spPr>
          <a:xfrm>
            <a:off x="661475" y="1833265"/>
            <a:ext cx="11478330" cy="228898"/>
          </a:xfrm>
          <a:prstGeom prst="rect">
            <a:avLst/>
          </a:prstGeom>
          <a:noFill/>
          <a:ln/>
        </p:spPr>
        <p:txBody>
          <a:bodyPr wrap="none" lIns="0" tIns="62612" rIns="0" bIns="0" rtlCol="0" anchor="t"/>
          <a:lstStyle/>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Java</a:t>
            </a:r>
            <a:endParaRPr lang="en-US" sz="1200" dirty="0"/>
          </a:p>
        </p:txBody>
      </p:sp>
      <p:sp>
        <p:nvSpPr>
          <p:cNvPr id="7" name="Text 5"/>
          <p:cNvSpPr/>
          <p:nvPr/>
        </p:nvSpPr>
        <p:spPr>
          <a:xfrm>
            <a:off x="661475" y="2256532"/>
            <a:ext cx="10868745" cy="244574"/>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Core DSA Concepts</a:t>
            </a:r>
            <a:endParaRPr lang="en-US" sz="1500" dirty="0"/>
          </a:p>
        </p:txBody>
      </p:sp>
      <p:sp>
        <p:nvSpPr>
          <p:cNvPr id="8" name="Text 6"/>
          <p:cNvSpPr/>
          <p:nvPr/>
        </p:nvSpPr>
        <p:spPr>
          <a:xfrm>
            <a:off x="661475" y="2695476"/>
            <a:ext cx="10868745" cy="1051620"/>
          </a:xfrm>
          <a:prstGeom prst="rect">
            <a:avLst/>
          </a:prstGeom>
          <a:noFill/>
          <a:ln/>
        </p:spPr>
        <p:txBody>
          <a:bodyPr wrap="square" lIns="0" tIns="62612" rIns="0" bIns="0" rtlCol="0" anchor="t">
            <a:normAutofit/>
          </a:bodyPr>
          <a:lstStyle/>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Suffix Array</a:t>
            </a:r>
            <a:endParaRPr lang="en-US" sz="1200" dirty="0"/>
          </a:p>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Binary Search</a:t>
            </a:r>
            <a:endParaRPr lang="en-US" sz="1200" dirty="0"/>
          </a:p>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Sorting</a:t>
            </a:r>
            <a:endParaRPr lang="en-US" sz="1200" dirty="0"/>
          </a:p>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Arrays &amp; Strings</a:t>
            </a:r>
            <a:endParaRPr lang="en-US" sz="1200" dirty="0"/>
          </a:p>
        </p:txBody>
      </p:sp>
      <p:sp>
        <p:nvSpPr>
          <p:cNvPr id="9" name="Text 7"/>
          <p:cNvSpPr/>
          <p:nvPr/>
        </p:nvSpPr>
        <p:spPr>
          <a:xfrm>
            <a:off x="661475" y="3941465"/>
            <a:ext cx="10868745" cy="244574"/>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Frontend</a:t>
            </a:r>
            <a:endParaRPr lang="en-US" sz="1500" dirty="0"/>
          </a:p>
        </p:txBody>
      </p:sp>
      <p:sp>
        <p:nvSpPr>
          <p:cNvPr id="10" name="Text 8"/>
          <p:cNvSpPr/>
          <p:nvPr/>
        </p:nvSpPr>
        <p:spPr>
          <a:xfrm>
            <a:off x="661475" y="4380409"/>
            <a:ext cx="10868745" cy="777379"/>
          </a:xfrm>
          <a:prstGeom prst="rect">
            <a:avLst/>
          </a:prstGeom>
          <a:noFill/>
          <a:ln/>
        </p:spPr>
        <p:txBody>
          <a:bodyPr wrap="square" lIns="0" tIns="62612" rIns="0" bIns="0" rtlCol="0" anchor="t">
            <a:normAutofit/>
          </a:bodyPr>
          <a:lstStyle/>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HTML</a:t>
            </a:r>
            <a:endParaRPr lang="en-US" sz="1200" dirty="0"/>
          </a:p>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CSS</a:t>
            </a:r>
            <a:endParaRPr lang="en-US" sz="1200" dirty="0"/>
          </a:p>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JavaScript</a:t>
            </a:r>
            <a:endParaRPr lang="en-US" sz="1200" dirty="0"/>
          </a:p>
        </p:txBody>
      </p:sp>
      <p:sp>
        <p:nvSpPr>
          <p:cNvPr id="11" name="Text 9"/>
          <p:cNvSpPr/>
          <p:nvPr/>
        </p:nvSpPr>
        <p:spPr>
          <a:xfrm>
            <a:off x="661475" y="5352157"/>
            <a:ext cx="10868745" cy="244574"/>
          </a:xfrm>
          <a:prstGeom prst="rect">
            <a:avLst/>
          </a:prstGeom>
          <a:noFill/>
          <a:ln/>
        </p:spPr>
        <p:txBody>
          <a:bodyPr wrap="none" lIns="0" tIns="0" rIns="0" bIns="0" rtlCol="0" anchor="t"/>
          <a:lstStyle/>
          <a:p>
            <a:pPr algn="l" indent="0" marL="0">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Development Tools</a:t>
            </a:r>
            <a:endParaRPr lang="en-US" sz="1500" dirty="0"/>
          </a:p>
        </p:txBody>
      </p:sp>
      <p:sp>
        <p:nvSpPr>
          <p:cNvPr id="12" name="Text 10"/>
          <p:cNvSpPr/>
          <p:nvPr/>
        </p:nvSpPr>
        <p:spPr>
          <a:xfrm>
            <a:off x="661475" y="5791101"/>
            <a:ext cx="10868745" cy="503138"/>
          </a:xfrm>
          <a:prstGeom prst="rect">
            <a:avLst/>
          </a:prstGeom>
          <a:noFill/>
          <a:ln/>
        </p:spPr>
        <p:txBody>
          <a:bodyPr wrap="square" lIns="0" tIns="62612" rIns="0" bIns="0" rtlCol="0" anchor="t">
            <a:normAutofit/>
          </a:bodyPr>
          <a:lstStyle/>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VS Code</a:t>
            </a:r>
            <a:endParaRPr lang="en-US" sz="1200" dirty="0"/>
          </a:p>
          <a:p>
            <a:pPr algn="l" marL="243840" indent="-243840">
              <a:lnSpc>
                <a:spcPct val="122000"/>
              </a:lnSpc>
              <a:buSzPct val="100000"/>
              <a:buChar char="•"/>
            </a:pPr>
            <a:r>
              <a:rPr lang="en-US" sz="1200" dirty="0">
                <a:solidFill>
                  <a:srgbClr val="454240"/>
                </a:solidFill>
                <a:latin typeface="DM Sans" pitchFamily="34" charset="0"/>
                <a:ea typeface="DM Sans" pitchFamily="34" charset="-122"/>
                <a:cs typeface="DM Sans" pitchFamily="34" charset="-120"/>
              </a:rPr>
              <a:t>Git / GitHub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872159"/>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5C4E3D"/>
                </a:solidFill>
                <a:latin typeface="Libre Baskerville" pitchFamily="34" charset="0"/>
                <a:ea typeface="Libre Baskerville" pitchFamily="34" charset="-122"/>
                <a:cs typeface="Libre Baskerville" pitchFamily="34" charset="-120"/>
              </a:rPr>
              <a:t>Expected Outcome</a:t>
            </a:r>
            <a:endParaRPr lang="en-US" sz="3700" dirty="0"/>
          </a:p>
        </p:txBody>
      </p:sp>
      <p:sp>
        <p:nvSpPr>
          <p:cNvPr id="3" name="Text 1"/>
          <p:cNvSpPr/>
          <p:nvPr/>
        </p:nvSpPr>
        <p:spPr>
          <a:xfrm>
            <a:off x="661475" y="2840831"/>
            <a:ext cx="10868745" cy="2144911"/>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Functional System</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Efficient Repeated Searching</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Occurrence Position Retrieval</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Query Execution-Time Measurement</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Large Text and Unicode Support</a:t>
            </a:r>
            <a:endParaRPr lang="en-US" sz="1450" dirty="0"/>
          </a:p>
          <a:p>
            <a:pPr algn="l" marL="294640" indent="-294640">
              <a:lnSpc>
                <a:spcPct val="133000"/>
              </a:lnSpc>
              <a:buSzPct val="100000"/>
              <a:buChar char="•"/>
            </a:pPr>
            <a:r>
              <a:rPr lang="en-US" sz="1450" dirty="0">
                <a:solidFill>
                  <a:srgbClr val="454240"/>
                </a:solidFill>
                <a:latin typeface="DM Sans" pitchFamily="34" charset="0"/>
                <a:ea typeface="DM Sans" pitchFamily="34" charset="-122"/>
                <a:cs typeface="DM Sans" pitchFamily="34" charset="-120"/>
              </a:rPr>
              <a:t>Advanced DSA Demonstration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2026-08-20T04:53:45Z</dcterms:created>
  <dcterms:modified xsi:type="dcterms:W3CDTF">2026-08-20T04:53:45Z</dcterms:modified>
</cp:coreProperties>
</file>